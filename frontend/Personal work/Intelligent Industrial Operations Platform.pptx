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otham Heavy" charset="1" panose="02000900000000000000"/>
      <p:regular r:id="rId16"/>
    </p:embeddedFont>
    <p:embeddedFont>
      <p:font typeface="Gotham" charset="1" panose="00000000000000000000"/>
      <p:regular r:id="rId17"/>
    </p:embeddedFont>
    <p:embeddedFont>
      <p:font typeface="Open Sauce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295759" y="6160333"/>
            <a:ext cx="21228157" cy="6598419"/>
          </a:xfrm>
          <a:custGeom>
            <a:avLst/>
            <a:gdLst/>
            <a:ahLst/>
            <a:cxnLst/>
            <a:rect r="r" b="b" t="t" l="l"/>
            <a:pathLst>
              <a:path h="6598419" w="21228157">
                <a:moveTo>
                  <a:pt x="21228157" y="0"/>
                </a:moveTo>
                <a:lnTo>
                  <a:pt x="0" y="0"/>
                </a:lnTo>
                <a:lnTo>
                  <a:pt x="0" y="6598419"/>
                </a:lnTo>
                <a:lnTo>
                  <a:pt x="21228157" y="6598419"/>
                </a:lnTo>
                <a:lnTo>
                  <a:pt x="2122815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0241" y="2911199"/>
            <a:ext cx="7202774" cy="4708814"/>
          </a:xfrm>
          <a:custGeom>
            <a:avLst/>
            <a:gdLst/>
            <a:ahLst/>
            <a:cxnLst/>
            <a:rect r="r" b="b" t="t" l="l"/>
            <a:pathLst>
              <a:path h="4708814" w="7202774">
                <a:moveTo>
                  <a:pt x="0" y="0"/>
                </a:moveTo>
                <a:lnTo>
                  <a:pt x="7202774" y="0"/>
                </a:lnTo>
                <a:lnTo>
                  <a:pt x="7202774" y="4708814"/>
                </a:lnTo>
                <a:lnTo>
                  <a:pt x="0" y="47088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95584">
            <a:off x="-792958" y="-1174004"/>
            <a:ext cx="6232330" cy="3381039"/>
          </a:xfrm>
          <a:custGeom>
            <a:avLst/>
            <a:gdLst/>
            <a:ahLst/>
            <a:cxnLst/>
            <a:rect r="r" b="b" t="t" l="l"/>
            <a:pathLst>
              <a:path h="3381039" w="6232330">
                <a:moveTo>
                  <a:pt x="0" y="0"/>
                </a:moveTo>
                <a:lnTo>
                  <a:pt x="6232330" y="0"/>
                </a:lnTo>
                <a:lnTo>
                  <a:pt x="6232330" y="3381039"/>
                </a:lnTo>
                <a:lnTo>
                  <a:pt x="0" y="33810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41349" y="1290725"/>
            <a:ext cx="1917951" cy="690463"/>
          </a:xfrm>
          <a:custGeom>
            <a:avLst/>
            <a:gdLst/>
            <a:ahLst/>
            <a:cxnLst/>
            <a:rect r="r" b="b" t="t" l="l"/>
            <a:pathLst>
              <a:path h="690463" w="1917951">
                <a:moveTo>
                  <a:pt x="0" y="0"/>
                </a:moveTo>
                <a:lnTo>
                  <a:pt x="1917951" y="0"/>
                </a:lnTo>
                <a:lnTo>
                  <a:pt x="1917951" y="690462"/>
                </a:lnTo>
                <a:lnTo>
                  <a:pt x="0" y="6904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86121" y="1719163"/>
            <a:ext cx="1604089" cy="1536584"/>
          </a:xfrm>
          <a:custGeom>
            <a:avLst/>
            <a:gdLst/>
            <a:ahLst/>
            <a:cxnLst/>
            <a:rect r="r" b="b" t="t" l="l"/>
            <a:pathLst>
              <a:path h="1536584" w="1604089">
                <a:moveTo>
                  <a:pt x="0" y="0"/>
                </a:moveTo>
                <a:lnTo>
                  <a:pt x="1604089" y="0"/>
                </a:lnTo>
                <a:lnTo>
                  <a:pt x="1604089" y="1536583"/>
                </a:lnTo>
                <a:lnTo>
                  <a:pt x="0" y="15365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693015" y="2647937"/>
            <a:ext cx="9594985" cy="232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5"/>
              </a:lnSpc>
            </a:pPr>
            <a:r>
              <a:rPr lang="en-US" sz="5300" b="true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AI-POWER</a:t>
            </a:r>
            <a:r>
              <a:rPr lang="en-US" sz="5300" b="true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ED INDUSTRIAL OPER</a:t>
            </a:r>
            <a:r>
              <a:rPr lang="en-US" sz="5300" b="true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AT</a:t>
            </a:r>
            <a:r>
              <a:rPr lang="en-US" sz="5300" b="true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I</a:t>
            </a:r>
            <a:r>
              <a:rPr lang="en-US" sz="5300" b="true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O</a:t>
            </a:r>
            <a:r>
              <a:rPr lang="en-US" sz="5300" b="true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N</a:t>
            </a:r>
            <a:r>
              <a:rPr lang="en-US" sz="5300" b="true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S INTELLIGENCE PLATFORM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72893" y="5653393"/>
            <a:ext cx="9915107" cy="133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0"/>
              </a:lnSpc>
              <a:spcBef>
                <a:spcPct val="0"/>
              </a:spcBef>
            </a:pPr>
            <a:r>
              <a:rPr lang="en-US" sz="46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SAFETY •</a:t>
            </a:r>
            <a:r>
              <a:rPr lang="en-US" sz="46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MACHINERY  OPERATIONS • INVENTORY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8863" y="3160269"/>
            <a:ext cx="6695477" cy="5490291"/>
          </a:xfrm>
          <a:custGeom>
            <a:avLst/>
            <a:gdLst/>
            <a:ahLst/>
            <a:cxnLst/>
            <a:rect r="r" b="b" t="t" l="l"/>
            <a:pathLst>
              <a:path h="5490291" w="6695477">
                <a:moveTo>
                  <a:pt x="0" y="0"/>
                </a:moveTo>
                <a:lnTo>
                  <a:pt x="6695477" y="0"/>
                </a:lnTo>
                <a:lnTo>
                  <a:pt x="6695477" y="5490291"/>
                </a:lnTo>
                <a:lnTo>
                  <a:pt x="0" y="54902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65289" y="1567535"/>
            <a:ext cx="12597035" cy="133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0"/>
              </a:lnSpc>
            </a:pPr>
            <a:r>
              <a:rPr lang="en-US" b="true" sz="4600">
                <a:solidFill>
                  <a:srgbClr val="B84300"/>
                </a:solidFill>
                <a:latin typeface="Gotham Heavy"/>
                <a:ea typeface="Gotham Heavy"/>
                <a:cs typeface="Gotham Heavy"/>
                <a:sym typeface="Gotham Heavy"/>
              </a:rPr>
              <a:t>THE REALITY INSIDE MANUFACTURING</a:t>
            </a:r>
          </a:p>
          <a:p>
            <a:pPr algn="ctr">
              <a:lnSpc>
                <a:spcPts val="5290"/>
              </a:lnSpc>
            </a:pPr>
            <a:r>
              <a:rPr lang="en-US" b="true" sz="4600">
                <a:solidFill>
                  <a:srgbClr val="B84300"/>
                </a:solidFill>
                <a:latin typeface="Gotham Heavy"/>
                <a:ea typeface="Gotham Heavy"/>
                <a:cs typeface="Gotham Heavy"/>
                <a:sym typeface="Gotham Heavy"/>
              </a:rPr>
              <a:t> OPERATIONS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63807" y="3680325"/>
            <a:ext cx="8324193" cy="497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9909" indent="-409954" lvl="1">
              <a:lnSpc>
                <a:spcPts val="5696"/>
              </a:lnSpc>
              <a:buFont typeface="Arial"/>
              <a:buChar char="•"/>
            </a:pPr>
            <a:r>
              <a:rPr lang="en-US" sz="379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⚠ Delayed safety incident response</a:t>
            </a:r>
          </a:p>
          <a:p>
            <a:pPr algn="l" marL="819909" indent="-409954" lvl="1">
              <a:lnSpc>
                <a:spcPts val="5696"/>
              </a:lnSpc>
              <a:buFont typeface="Arial"/>
              <a:buChar char="•"/>
            </a:pPr>
            <a:r>
              <a:rPr lang="en-US" sz="379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⚙ Unexpected machine     breakdowns</a:t>
            </a:r>
          </a:p>
          <a:p>
            <a:pPr algn="l" marL="819909" indent="-409954" lvl="1">
              <a:lnSpc>
                <a:spcPts val="5696"/>
              </a:lnSpc>
              <a:buFont typeface="Arial"/>
              <a:buChar char="•"/>
            </a:pPr>
            <a:r>
              <a:rPr lang="en-US" sz="379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📉 Limited real-time visibility</a:t>
            </a:r>
          </a:p>
          <a:p>
            <a:pPr algn="l" marL="819909" indent="-409954" lvl="1">
              <a:lnSpc>
                <a:spcPts val="5696"/>
              </a:lnSpc>
              <a:buFont typeface="Arial"/>
              <a:buChar char="•"/>
            </a:pPr>
            <a:r>
              <a:rPr lang="en-US" sz="379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📦 Inventory mismatches</a:t>
            </a:r>
          </a:p>
          <a:p>
            <a:pPr algn="l">
              <a:lnSpc>
                <a:spcPts val="5696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1195584">
            <a:off x="-792958" y="-1174004"/>
            <a:ext cx="6232330" cy="3381039"/>
          </a:xfrm>
          <a:custGeom>
            <a:avLst/>
            <a:gdLst/>
            <a:ahLst/>
            <a:cxnLst/>
            <a:rect r="r" b="b" t="t" l="l"/>
            <a:pathLst>
              <a:path h="3381039" w="6232330">
                <a:moveTo>
                  <a:pt x="0" y="0"/>
                </a:moveTo>
                <a:lnTo>
                  <a:pt x="6232330" y="0"/>
                </a:lnTo>
                <a:lnTo>
                  <a:pt x="6232330" y="3381039"/>
                </a:lnTo>
                <a:lnTo>
                  <a:pt x="0" y="3381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57255" y="770668"/>
            <a:ext cx="1604089" cy="1536584"/>
          </a:xfrm>
          <a:custGeom>
            <a:avLst/>
            <a:gdLst/>
            <a:ahLst/>
            <a:cxnLst/>
            <a:rect r="r" b="b" t="t" l="l"/>
            <a:pathLst>
              <a:path h="1536584" w="1604089">
                <a:moveTo>
                  <a:pt x="0" y="0"/>
                </a:moveTo>
                <a:lnTo>
                  <a:pt x="1604090" y="0"/>
                </a:lnTo>
                <a:lnTo>
                  <a:pt x="1604090" y="1536584"/>
                </a:lnTo>
                <a:lnTo>
                  <a:pt x="0" y="15365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00129" y="1530602"/>
            <a:ext cx="4841404" cy="3612898"/>
          </a:xfrm>
          <a:custGeom>
            <a:avLst/>
            <a:gdLst/>
            <a:ahLst/>
            <a:cxnLst/>
            <a:rect r="r" b="b" t="t" l="l"/>
            <a:pathLst>
              <a:path h="3612898" w="4841404">
                <a:moveTo>
                  <a:pt x="0" y="0"/>
                </a:moveTo>
                <a:lnTo>
                  <a:pt x="4841404" y="0"/>
                </a:lnTo>
                <a:lnTo>
                  <a:pt x="4841404" y="3612898"/>
                </a:lnTo>
                <a:lnTo>
                  <a:pt x="0" y="3612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55995" y="2692216"/>
            <a:ext cx="10432005" cy="66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0"/>
              </a:lnSpc>
            </a:pPr>
            <a:r>
              <a:rPr lang="en-US" sz="4600" b="true">
                <a:solidFill>
                  <a:srgbClr val="B84300"/>
                </a:solidFill>
                <a:latin typeface="Gotham Heavy"/>
                <a:ea typeface="Gotham Heavy"/>
                <a:cs typeface="Gotham Heavy"/>
                <a:sym typeface="Gotham Heavy"/>
              </a:rPr>
              <a:t>WHY CURRENT SYSTEMS FAIL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-1349322" y="6934328"/>
            <a:ext cx="19944337" cy="6199365"/>
          </a:xfrm>
          <a:custGeom>
            <a:avLst/>
            <a:gdLst/>
            <a:ahLst/>
            <a:cxnLst/>
            <a:rect r="r" b="b" t="t" l="l"/>
            <a:pathLst>
              <a:path h="6199365" w="19944337">
                <a:moveTo>
                  <a:pt x="19944337" y="0"/>
                </a:moveTo>
                <a:lnTo>
                  <a:pt x="0" y="0"/>
                </a:lnTo>
                <a:lnTo>
                  <a:pt x="0" y="6199365"/>
                </a:lnTo>
                <a:lnTo>
                  <a:pt x="19944337" y="6199365"/>
                </a:lnTo>
                <a:lnTo>
                  <a:pt x="199443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70561" y="4660502"/>
            <a:ext cx="9710098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🧩No unified intelligence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📉 Productivity loss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⚙ Unplanned downtime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📦 Inventory imbalance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⚠ Safety &amp; compliance risks</a:t>
            </a:r>
          </a:p>
          <a:p>
            <a:pPr algn="just">
              <a:lnSpc>
                <a:spcPts val="559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180659" y="4159702"/>
            <a:ext cx="1602779" cy="577000"/>
          </a:xfrm>
          <a:custGeom>
            <a:avLst/>
            <a:gdLst/>
            <a:ahLst/>
            <a:cxnLst/>
            <a:rect r="r" b="b" t="t" l="l"/>
            <a:pathLst>
              <a:path h="577000" w="1602779">
                <a:moveTo>
                  <a:pt x="0" y="0"/>
                </a:moveTo>
                <a:lnTo>
                  <a:pt x="1602779" y="0"/>
                </a:lnTo>
                <a:lnTo>
                  <a:pt x="1602779" y="577000"/>
                </a:lnTo>
                <a:lnTo>
                  <a:pt x="0" y="57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972162">
            <a:off x="12868801" y="-1353894"/>
            <a:ext cx="6232330" cy="3381039"/>
          </a:xfrm>
          <a:custGeom>
            <a:avLst/>
            <a:gdLst/>
            <a:ahLst/>
            <a:cxnLst/>
            <a:rect r="r" b="b" t="t" l="l"/>
            <a:pathLst>
              <a:path h="3381039" w="6232330">
                <a:moveTo>
                  <a:pt x="6232330" y="0"/>
                </a:moveTo>
                <a:lnTo>
                  <a:pt x="0" y="0"/>
                </a:lnTo>
                <a:lnTo>
                  <a:pt x="0" y="3381039"/>
                </a:lnTo>
                <a:lnTo>
                  <a:pt x="6232330" y="3381039"/>
                </a:lnTo>
                <a:lnTo>
                  <a:pt x="62323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4229" y="1106630"/>
            <a:ext cx="1930022" cy="694808"/>
          </a:xfrm>
          <a:custGeom>
            <a:avLst/>
            <a:gdLst/>
            <a:ahLst/>
            <a:cxnLst/>
            <a:rect r="r" b="b" t="t" l="l"/>
            <a:pathLst>
              <a:path h="694808" w="1930022">
                <a:moveTo>
                  <a:pt x="0" y="0"/>
                </a:moveTo>
                <a:lnTo>
                  <a:pt x="1930022" y="0"/>
                </a:lnTo>
                <a:lnTo>
                  <a:pt x="1930022" y="694807"/>
                </a:lnTo>
                <a:lnTo>
                  <a:pt x="0" y="6948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102304"/>
            <a:ext cx="8406530" cy="5297969"/>
          </a:xfrm>
          <a:custGeom>
            <a:avLst/>
            <a:gdLst/>
            <a:ahLst/>
            <a:cxnLst/>
            <a:rect r="r" b="b" t="t" l="l"/>
            <a:pathLst>
              <a:path h="5297969" w="8406530">
                <a:moveTo>
                  <a:pt x="0" y="0"/>
                </a:moveTo>
                <a:lnTo>
                  <a:pt x="8406530" y="0"/>
                </a:lnTo>
                <a:lnTo>
                  <a:pt x="8406530" y="5297969"/>
                </a:lnTo>
                <a:lnTo>
                  <a:pt x="0" y="52979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7260" r="-6935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04229" y="2334126"/>
            <a:ext cx="13458541" cy="66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0"/>
              </a:lnSpc>
            </a:pPr>
            <a:r>
              <a:rPr lang="en-US" sz="4600" b="true">
                <a:solidFill>
                  <a:srgbClr val="B84300"/>
                </a:solidFill>
                <a:latin typeface="Gotham Heavy"/>
                <a:ea typeface="Gotham Heavy"/>
                <a:cs typeface="Gotham Heavy"/>
                <a:sym typeface="Gotham Heavy"/>
              </a:rPr>
              <a:t>ONE PLATFORM. ONE OPERATIONAL VIEW.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06530" y="4611338"/>
            <a:ext cx="10487857" cy="42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orkers | Machines | Safety | Inventory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         ↓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Unified Operations Intelligence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         ↓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   Manager Decisions</a:t>
            </a:r>
          </a:p>
          <a:p>
            <a:pPr algn="just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-4135119" y="3354227"/>
            <a:ext cx="10327637" cy="3210174"/>
          </a:xfrm>
          <a:custGeom>
            <a:avLst/>
            <a:gdLst/>
            <a:ahLst/>
            <a:cxnLst/>
            <a:rect r="r" b="b" t="t" l="l"/>
            <a:pathLst>
              <a:path h="3210174" w="10327637">
                <a:moveTo>
                  <a:pt x="10327638" y="0"/>
                </a:moveTo>
                <a:lnTo>
                  <a:pt x="0" y="0"/>
                </a:lnTo>
                <a:lnTo>
                  <a:pt x="0" y="3210174"/>
                </a:lnTo>
                <a:lnTo>
                  <a:pt x="10327638" y="3210174"/>
                </a:lnTo>
                <a:lnTo>
                  <a:pt x="103276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001" y="9258300"/>
            <a:ext cx="19729975" cy="1729665"/>
            <a:chOff x="0" y="0"/>
            <a:chExt cx="5196372" cy="4555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6372" cy="455550"/>
            </a:xfrm>
            <a:custGeom>
              <a:avLst/>
              <a:gdLst/>
              <a:ahLst/>
              <a:cxnLst/>
              <a:rect r="r" b="b" t="t" l="l"/>
              <a:pathLst>
                <a:path h="455550" w="5196372">
                  <a:moveTo>
                    <a:pt x="0" y="0"/>
                  </a:moveTo>
                  <a:lnTo>
                    <a:pt x="5196372" y="0"/>
                  </a:lnTo>
                  <a:lnTo>
                    <a:pt x="5196372" y="455550"/>
                  </a:lnTo>
                  <a:lnTo>
                    <a:pt x="0" y="455550"/>
                  </a:lnTo>
                  <a:close/>
                </a:path>
              </a:pathLst>
            </a:custGeom>
            <a:solidFill>
              <a:srgbClr val="E5560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96372" cy="493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089401" y="1634446"/>
            <a:ext cx="1822973" cy="1746256"/>
          </a:xfrm>
          <a:custGeom>
            <a:avLst/>
            <a:gdLst/>
            <a:ahLst/>
            <a:cxnLst/>
            <a:rect r="r" b="b" t="t" l="l"/>
            <a:pathLst>
              <a:path h="1746256" w="1822973">
                <a:moveTo>
                  <a:pt x="0" y="0"/>
                </a:moveTo>
                <a:lnTo>
                  <a:pt x="1822972" y="0"/>
                </a:lnTo>
                <a:lnTo>
                  <a:pt x="1822972" y="1746256"/>
                </a:lnTo>
                <a:lnTo>
                  <a:pt x="0" y="1746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055008" y="6513954"/>
            <a:ext cx="3232992" cy="2352002"/>
          </a:xfrm>
          <a:custGeom>
            <a:avLst/>
            <a:gdLst/>
            <a:ahLst/>
            <a:cxnLst/>
            <a:rect r="r" b="b" t="t" l="l"/>
            <a:pathLst>
              <a:path h="2352002" w="3232992">
                <a:moveTo>
                  <a:pt x="3232992" y="0"/>
                </a:moveTo>
                <a:lnTo>
                  <a:pt x="0" y="0"/>
                </a:lnTo>
                <a:lnTo>
                  <a:pt x="0" y="2352002"/>
                </a:lnTo>
                <a:lnTo>
                  <a:pt x="3232992" y="2352002"/>
                </a:lnTo>
                <a:lnTo>
                  <a:pt x="3232992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300295" y="1856008"/>
            <a:ext cx="5748875" cy="6206613"/>
          </a:xfrm>
          <a:custGeom>
            <a:avLst/>
            <a:gdLst/>
            <a:ahLst/>
            <a:cxnLst/>
            <a:rect r="r" b="b" t="t" l="l"/>
            <a:pathLst>
              <a:path h="6206613" w="5748875">
                <a:moveTo>
                  <a:pt x="0" y="0"/>
                </a:moveTo>
                <a:lnTo>
                  <a:pt x="5748875" y="0"/>
                </a:lnTo>
                <a:lnTo>
                  <a:pt x="5748875" y="6206613"/>
                </a:lnTo>
                <a:lnTo>
                  <a:pt x="0" y="62066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531720" y="1494749"/>
            <a:ext cx="6557680" cy="133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0"/>
              </a:lnSpc>
            </a:pPr>
            <a:r>
              <a:rPr lang="en-US" b="true" sz="4600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 MODULE 1 – SAFETY INT</a:t>
            </a:r>
            <a:r>
              <a:rPr lang="en-US" b="true" sz="4600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ELL</a:t>
            </a:r>
            <a:r>
              <a:rPr lang="en-US" b="true" sz="4600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IGE</a:t>
            </a:r>
            <a:r>
              <a:rPr lang="en-US" b="true" sz="4600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31720" y="3944918"/>
            <a:ext cx="7607669" cy="349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8" indent="-431799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🎥 CCTV-based monitoring</a:t>
            </a:r>
          </a:p>
          <a:p>
            <a:pPr algn="just" marL="863598" indent="-431799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🤖 AI incident detection</a:t>
            </a:r>
          </a:p>
          <a:p>
            <a:pPr algn="just" marL="863598" indent="-431799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📝 Auto-generated reports</a:t>
            </a:r>
          </a:p>
          <a:p>
            <a:pPr algn="just" marL="863598" indent="-431799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🚨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nsta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 al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ts</a:t>
            </a:r>
          </a:p>
          <a:p>
            <a:pPr algn="just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6004" y="4452292"/>
            <a:ext cx="6542988" cy="4310193"/>
          </a:xfrm>
          <a:custGeom>
            <a:avLst/>
            <a:gdLst/>
            <a:ahLst/>
            <a:cxnLst/>
            <a:rect r="r" b="b" t="t" l="l"/>
            <a:pathLst>
              <a:path h="4310193" w="6542988">
                <a:moveTo>
                  <a:pt x="0" y="0"/>
                </a:moveTo>
                <a:lnTo>
                  <a:pt x="6542988" y="0"/>
                </a:lnTo>
                <a:lnTo>
                  <a:pt x="6542988" y="4310193"/>
                </a:lnTo>
                <a:lnTo>
                  <a:pt x="0" y="4310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942696">
            <a:off x="11548789" y="-1711703"/>
            <a:ext cx="7695840" cy="4174993"/>
          </a:xfrm>
          <a:custGeom>
            <a:avLst/>
            <a:gdLst/>
            <a:ahLst/>
            <a:cxnLst/>
            <a:rect r="r" b="b" t="t" l="l"/>
            <a:pathLst>
              <a:path h="4174993" w="7695840">
                <a:moveTo>
                  <a:pt x="7695840" y="0"/>
                </a:moveTo>
                <a:lnTo>
                  <a:pt x="0" y="0"/>
                </a:lnTo>
                <a:lnTo>
                  <a:pt x="0" y="4174993"/>
                </a:lnTo>
                <a:lnTo>
                  <a:pt x="7695840" y="4174993"/>
                </a:lnTo>
                <a:lnTo>
                  <a:pt x="76958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14142" y="1928422"/>
            <a:ext cx="1899606" cy="1819664"/>
          </a:xfrm>
          <a:custGeom>
            <a:avLst/>
            <a:gdLst/>
            <a:ahLst/>
            <a:cxnLst/>
            <a:rect r="r" b="b" t="t" l="l"/>
            <a:pathLst>
              <a:path h="1819664" w="1899606">
                <a:moveTo>
                  <a:pt x="0" y="0"/>
                </a:moveTo>
                <a:lnTo>
                  <a:pt x="1899606" y="0"/>
                </a:lnTo>
                <a:lnTo>
                  <a:pt x="1899606" y="1819664"/>
                </a:lnTo>
                <a:lnTo>
                  <a:pt x="0" y="18196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514001" y="9258300"/>
            <a:ext cx="19729975" cy="1729665"/>
            <a:chOff x="0" y="0"/>
            <a:chExt cx="5196372" cy="455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96372" cy="455550"/>
            </a:xfrm>
            <a:custGeom>
              <a:avLst/>
              <a:gdLst/>
              <a:ahLst/>
              <a:cxnLst/>
              <a:rect r="r" b="b" t="t" l="l"/>
              <a:pathLst>
                <a:path h="455550" w="5196372">
                  <a:moveTo>
                    <a:pt x="0" y="0"/>
                  </a:moveTo>
                  <a:lnTo>
                    <a:pt x="5196372" y="0"/>
                  </a:lnTo>
                  <a:lnTo>
                    <a:pt x="5196372" y="455550"/>
                  </a:lnTo>
                  <a:lnTo>
                    <a:pt x="0" y="455550"/>
                  </a:lnTo>
                  <a:close/>
                </a:path>
              </a:pathLst>
            </a:custGeom>
            <a:solidFill>
              <a:srgbClr val="E5560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196372" cy="493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-831320"/>
            <a:ext cx="2891291" cy="2414228"/>
          </a:xfrm>
          <a:custGeom>
            <a:avLst/>
            <a:gdLst/>
            <a:ahLst/>
            <a:cxnLst/>
            <a:rect r="r" b="b" t="t" l="l"/>
            <a:pathLst>
              <a:path h="2414228" w="2891291">
                <a:moveTo>
                  <a:pt x="0" y="0"/>
                </a:moveTo>
                <a:lnTo>
                  <a:pt x="2891291" y="0"/>
                </a:lnTo>
                <a:lnTo>
                  <a:pt x="2891291" y="2414228"/>
                </a:lnTo>
                <a:lnTo>
                  <a:pt x="0" y="24142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18361" y="1886743"/>
            <a:ext cx="8179754" cy="133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0"/>
              </a:lnSpc>
            </a:pPr>
            <a:r>
              <a:rPr lang="en-US" sz="4600" b="true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 M</a:t>
            </a:r>
            <a:r>
              <a:rPr lang="en-US" sz="4600" b="true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ODULE</a:t>
            </a:r>
            <a:r>
              <a:rPr lang="en-US" sz="4600" b="true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 2 – MACHINERY INTELLIGENCE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4376092"/>
            <a:ext cx="8786066" cy="42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⚙ Machine condition monitoring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📈 Vision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+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sor 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inp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ts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🔧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rly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lt d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ete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ion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🟢🟡🔴 Machine health status indicators</a:t>
            </a:r>
          </a:p>
          <a:p>
            <a:pPr algn="just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-4135119" y="3354227"/>
            <a:ext cx="10327637" cy="3210174"/>
          </a:xfrm>
          <a:custGeom>
            <a:avLst/>
            <a:gdLst/>
            <a:ahLst/>
            <a:cxnLst/>
            <a:rect r="r" b="b" t="t" l="l"/>
            <a:pathLst>
              <a:path h="3210174" w="10327637">
                <a:moveTo>
                  <a:pt x="10327638" y="0"/>
                </a:moveTo>
                <a:lnTo>
                  <a:pt x="0" y="0"/>
                </a:lnTo>
                <a:lnTo>
                  <a:pt x="0" y="3210174"/>
                </a:lnTo>
                <a:lnTo>
                  <a:pt x="10327638" y="3210174"/>
                </a:lnTo>
                <a:lnTo>
                  <a:pt x="103276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46387" y="1947882"/>
            <a:ext cx="4785438" cy="6391236"/>
          </a:xfrm>
          <a:custGeom>
            <a:avLst/>
            <a:gdLst/>
            <a:ahLst/>
            <a:cxnLst/>
            <a:rect r="r" b="b" t="t" l="l"/>
            <a:pathLst>
              <a:path h="6391236" w="4785438">
                <a:moveTo>
                  <a:pt x="0" y="0"/>
                </a:moveTo>
                <a:lnTo>
                  <a:pt x="4785438" y="0"/>
                </a:lnTo>
                <a:lnTo>
                  <a:pt x="4785438" y="6391236"/>
                </a:lnTo>
                <a:lnTo>
                  <a:pt x="0" y="63912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514001" y="9258300"/>
            <a:ext cx="19729975" cy="1729665"/>
            <a:chOff x="0" y="0"/>
            <a:chExt cx="5196372" cy="455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6372" cy="455550"/>
            </a:xfrm>
            <a:custGeom>
              <a:avLst/>
              <a:gdLst/>
              <a:ahLst/>
              <a:cxnLst/>
              <a:rect r="r" b="b" t="t" l="l"/>
              <a:pathLst>
                <a:path h="455550" w="5196372">
                  <a:moveTo>
                    <a:pt x="0" y="0"/>
                  </a:moveTo>
                  <a:lnTo>
                    <a:pt x="5196372" y="0"/>
                  </a:lnTo>
                  <a:lnTo>
                    <a:pt x="5196372" y="455550"/>
                  </a:lnTo>
                  <a:lnTo>
                    <a:pt x="0" y="455550"/>
                  </a:lnTo>
                  <a:close/>
                </a:path>
              </a:pathLst>
            </a:custGeom>
            <a:solidFill>
              <a:srgbClr val="E5560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196372" cy="493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089401" y="1634446"/>
            <a:ext cx="1822973" cy="1746256"/>
          </a:xfrm>
          <a:custGeom>
            <a:avLst/>
            <a:gdLst/>
            <a:ahLst/>
            <a:cxnLst/>
            <a:rect r="r" b="b" t="t" l="l"/>
            <a:pathLst>
              <a:path h="1746256" w="1822973">
                <a:moveTo>
                  <a:pt x="0" y="0"/>
                </a:moveTo>
                <a:lnTo>
                  <a:pt x="1822972" y="0"/>
                </a:lnTo>
                <a:lnTo>
                  <a:pt x="1822972" y="1746256"/>
                </a:lnTo>
                <a:lnTo>
                  <a:pt x="0" y="1746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29526" y="438206"/>
            <a:ext cx="2219161" cy="2069368"/>
          </a:xfrm>
          <a:custGeom>
            <a:avLst/>
            <a:gdLst/>
            <a:ahLst/>
            <a:cxnLst/>
            <a:rect r="r" b="b" t="t" l="l"/>
            <a:pathLst>
              <a:path h="2069368" w="2219161">
                <a:moveTo>
                  <a:pt x="0" y="0"/>
                </a:moveTo>
                <a:lnTo>
                  <a:pt x="2219161" y="0"/>
                </a:lnTo>
                <a:lnTo>
                  <a:pt x="2219161" y="2069368"/>
                </a:lnTo>
                <a:lnTo>
                  <a:pt x="0" y="20693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531720" y="1057275"/>
            <a:ext cx="6557680" cy="200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0"/>
              </a:lnSpc>
            </a:pPr>
            <a:r>
              <a:rPr lang="en-US" b="true" sz="4600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MODULE 3 – PERFORMANCE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31720" y="4370705"/>
            <a:ext cx="9413507" cy="349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📈 Performance KPIs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🧠 Decision intell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ig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🔔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mart a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ler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&amp; sugge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ion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📊Real-time performance tracking </a:t>
            </a:r>
          </a:p>
          <a:p>
            <a:pPr algn="just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972162">
            <a:off x="12868801" y="-1353894"/>
            <a:ext cx="6232330" cy="3381039"/>
          </a:xfrm>
          <a:custGeom>
            <a:avLst/>
            <a:gdLst/>
            <a:ahLst/>
            <a:cxnLst/>
            <a:rect r="r" b="b" t="t" l="l"/>
            <a:pathLst>
              <a:path h="3381039" w="6232330">
                <a:moveTo>
                  <a:pt x="6232330" y="0"/>
                </a:moveTo>
                <a:lnTo>
                  <a:pt x="0" y="0"/>
                </a:lnTo>
                <a:lnTo>
                  <a:pt x="0" y="3381039"/>
                </a:lnTo>
                <a:lnTo>
                  <a:pt x="6232330" y="3381039"/>
                </a:lnTo>
                <a:lnTo>
                  <a:pt x="62323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24244">
            <a:off x="-797691" y="-1353894"/>
            <a:ext cx="6232330" cy="3381039"/>
          </a:xfrm>
          <a:custGeom>
            <a:avLst/>
            <a:gdLst/>
            <a:ahLst/>
            <a:cxnLst/>
            <a:rect r="r" b="b" t="t" l="l"/>
            <a:pathLst>
              <a:path h="3381039" w="6232330">
                <a:moveTo>
                  <a:pt x="0" y="0"/>
                </a:moveTo>
                <a:lnTo>
                  <a:pt x="6232329" y="0"/>
                </a:lnTo>
                <a:lnTo>
                  <a:pt x="6232329" y="3381039"/>
                </a:lnTo>
                <a:lnTo>
                  <a:pt x="0" y="3381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6090662" y="4891610"/>
            <a:ext cx="1718585" cy="618691"/>
          </a:xfrm>
          <a:custGeom>
            <a:avLst/>
            <a:gdLst/>
            <a:ahLst/>
            <a:cxnLst/>
            <a:rect r="r" b="b" t="t" l="l"/>
            <a:pathLst>
              <a:path h="618691" w="1718585">
                <a:moveTo>
                  <a:pt x="0" y="0"/>
                </a:moveTo>
                <a:lnTo>
                  <a:pt x="1718585" y="0"/>
                </a:lnTo>
                <a:lnTo>
                  <a:pt x="1718585" y="618691"/>
                </a:lnTo>
                <a:lnTo>
                  <a:pt x="0" y="6186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50865" y="3654140"/>
            <a:ext cx="5753841" cy="6145624"/>
          </a:xfrm>
          <a:custGeom>
            <a:avLst/>
            <a:gdLst/>
            <a:ahLst/>
            <a:cxnLst/>
            <a:rect r="r" b="b" t="t" l="l"/>
            <a:pathLst>
              <a:path h="6145624" w="5753841">
                <a:moveTo>
                  <a:pt x="0" y="0"/>
                </a:moveTo>
                <a:lnTo>
                  <a:pt x="5753841" y="0"/>
                </a:lnTo>
                <a:lnTo>
                  <a:pt x="5753841" y="6145624"/>
                </a:lnTo>
                <a:lnTo>
                  <a:pt x="0" y="61456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80255" y="2510117"/>
            <a:ext cx="12959374" cy="66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0"/>
              </a:lnSpc>
            </a:pPr>
            <a:r>
              <a:rPr lang="en-US" b="true" sz="4600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MODUL</a:t>
            </a:r>
            <a:r>
              <a:rPr lang="en-US" b="true" sz="4600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E 4 – INVENTORY</a:t>
            </a:r>
            <a:r>
              <a:rPr lang="en-US" b="true" sz="4600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 INTELL</a:t>
            </a:r>
            <a:r>
              <a:rPr lang="en-US" b="true" sz="4600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4371" y="4570539"/>
            <a:ext cx="8365571" cy="522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📦Real-time stock tracking</a:t>
            </a:r>
          </a:p>
          <a:p>
            <a:pPr algn="just" marL="863599" indent="-431800" lvl="1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⏳ Demand prediction</a:t>
            </a:r>
          </a:p>
          <a:p>
            <a:pPr algn="just" marL="863599" indent="-431800" lvl="1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🔄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eor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erts</a:t>
            </a:r>
          </a:p>
          <a:p>
            <a:pPr algn="just" marL="863599" indent="-431800" lvl="1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📉 Demand prediction based on production trends</a:t>
            </a:r>
          </a:p>
          <a:p>
            <a:pPr algn="just" marL="863599" indent="-431800" lvl="1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🔔 Automated reorder alerts</a:t>
            </a:r>
          </a:p>
          <a:p>
            <a:pPr algn="just">
              <a:lnSpc>
                <a:spcPts val="59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02885" y="6746858"/>
            <a:ext cx="19944337" cy="6199365"/>
          </a:xfrm>
          <a:custGeom>
            <a:avLst/>
            <a:gdLst/>
            <a:ahLst/>
            <a:cxnLst/>
            <a:rect r="r" b="b" t="t" l="l"/>
            <a:pathLst>
              <a:path h="6199365" w="19944337">
                <a:moveTo>
                  <a:pt x="0" y="0"/>
                </a:moveTo>
                <a:lnTo>
                  <a:pt x="19944337" y="0"/>
                </a:lnTo>
                <a:lnTo>
                  <a:pt x="19944337" y="6199365"/>
                </a:lnTo>
                <a:lnTo>
                  <a:pt x="0" y="6199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21772" y="1781386"/>
            <a:ext cx="12644457" cy="66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0"/>
              </a:lnSpc>
            </a:pPr>
            <a:r>
              <a:rPr lang="en-US" b="true" sz="4600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LET’S EXPLORE TH</a:t>
            </a:r>
            <a:r>
              <a:rPr lang="en-US" b="true" sz="4600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I</a:t>
            </a:r>
            <a:r>
              <a:rPr lang="en-US" b="true" sz="4600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S TOGE</a:t>
            </a:r>
            <a:r>
              <a:rPr lang="en-US" b="true" sz="4600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T</a:t>
            </a:r>
            <a:r>
              <a:rPr lang="en-US" b="true" sz="4600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H</a:t>
            </a:r>
            <a:r>
              <a:rPr lang="en-US" b="true" sz="4600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E</a:t>
            </a:r>
            <a:r>
              <a:rPr lang="en-US" b="true" sz="4600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0234" y="3740091"/>
            <a:ext cx="8885477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 would welcome the opportunity to present the detailed working of this platform and receive industry guidance to validate and refine this concept.</a:t>
            </a: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91750" y="1937220"/>
            <a:ext cx="1754579" cy="631649"/>
          </a:xfrm>
          <a:custGeom>
            <a:avLst/>
            <a:gdLst/>
            <a:ahLst/>
            <a:cxnLst/>
            <a:rect r="r" b="b" t="t" l="l"/>
            <a:pathLst>
              <a:path h="631649" w="1754579">
                <a:moveTo>
                  <a:pt x="0" y="0"/>
                </a:moveTo>
                <a:lnTo>
                  <a:pt x="1754579" y="0"/>
                </a:lnTo>
                <a:lnTo>
                  <a:pt x="1754579" y="631648"/>
                </a:lnTo>
                <a:lnTo>
                  <a:pt x="0" y="6316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504721" y="1968799"/>
            <a:ext cx="1754579" cy="631649"/>
          </a:xfrm>
          <a:custGeom>
            <a:avLst/>
            <a:gdLst/>
            <a:ahLst/>
            <a:cxnLst/>
            <a:rect r="r" b="b" t="t" l="l"/>
            <a:pathLst>
              <a:path h="631649" w="1754579">
                <a:moveTo>
                  <a:pt x="1754579" y="0"/>
                </a:moveTo>
                <a:lnTo>
                  <a:pt x="0" y="0"/>
                </a:lnTo>
                <a:lnTo>
                  <a:pt x="0" y="631649"/>
                </a:lnTo>
                <a:lnTo>
                  <a:pt x="1754579" y="631649"/>
                </a:lnTo>
                <a:lnTo>
                  <a:pt x="175457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96572" y="2867064"/>
            <a:ext cx="4312636" cy="5759781"/>
          </a:xfrm>
          <a:custGeom>
            <a:avLst/>
            <a:gdLst/>
            <a:ahLst/>
            <a:cxnLst/>
            <a:rect r="r" b="b" t="t" l="l"/>
            <a:pathLst>
              <a:path h="5759781" w="4312636">
                <a:moveTo>
                  <a:pt x="0" y="0"/>
                </a:moveTo>
                <a:lnTo>
                  <a:pt x="4312636" y="0"/>
                </a:lnTo>
                <a:lnTo>
                  <a:pt x="4312636" y="5759781"/>
                </a:lnTo>
                <a:lnTo>
                  <a:pt x="0" y="57597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80234" y="6330891"/>
            <a:ext cx="2170595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Team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Name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College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Contact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1828" y="3498328"/>
            <a:ext cx="11863438" cy="2070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07"/>
              </a:lnSpc>
            </a:pPr>
            <a:r>
              <a:rPr lang="en-US" sz="14006" b="true">
                <a:solidFill>
                  <a:srgbClr val="B84300"/>
                </a:solidFill>
                <a:latin typeface="Gotham Heavy"/>
                <a:ea typeface="Gotham Heavy"/>
                <a:cs typeface="Gotham Heavy"/>
                <a:sym typeface="Gotham Heavy"/>
              </a:rPr>
              <a:t>THANK</a:t>
            </a:r>
            <a:r>
              <a:rPr lang="en-US" sz="14006" b="true">
                <a:solidFill>
                  <a:srgbClr val="000000"/>
                </a:solidFill>
                <a:latin typeface="Gotham Heavy"/>
                <a:ea typeface="Gotham Heavy"/>
                <a:cs typeface="Gotham Heavy"/>
                <a:sym typeface="Gotham Heavy"/>
              </a:rPr>
              <a:t> YOU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-1242196" y="5568472"/>
            <a:ext cx="19944337" cy="6199365"/>
          </a:xfrm>
          <a:custGeom>
            <a:avLst/>
            <a:gdLst/>
            <a:ahLst/>
            <a:cxnLst/>
            <a:rect r="r" b="b" t="t" l="l"/>
            <a:pathLst>
              <a:path h="6199365" w="19944337">
                <a:moveTo>
                  <a:pt x="19944337" y="0"/>
                </a:moveTo>
                <a:lnTo>
                  <a:pt x="0" y="0"/>
                </a:lnTo>
                <a:lnTo>
                  <a:pt x="0" y="6199365"/>
                </a:lnTo>
                <a:lnTo>
                  <a:pt x="19944337" y="6199365"/>
                </a:lnTo>
                <a:lnTo>
                  <a:pt x="1994433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942696">
            <a:off x="11709478" y="-1697819"/>
            <a:ext cx="7695840" cy="4174993"/>
          </a:xfrm>
          <a:custGeom>
            <a:avLst/>
            <a:gdLst/>
            <a:ahLst/>
            <a:cxnLst/>
            <a:rect r="r" b="b" t="t" l="l"/>
            <a:pathLst>
              <a:path h="4174993" w="7695840">
                <a:moveTo>
                  <a:pt x="7695840" y="0"/>
                </a:moveTo>
                <a:lnTo>
                  <a:pt x="0" y="0"/>
                </a:lnTo>
                <a:lnTo>
                  <a:pt x="0" y="4174993"/>
                </a:lnTo>
                <a:lnTo>
                  <a:pt x="7695840" y="4174993"/>
                </a:lnTo>
                <a:lnTo>
                  <a:pt x="76958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93472" y="2049315"/>
            <a:ext cx="2335920" cy="840931"/>
          </a:xfrm>
          <a:custGeom>
            <a:avLst/>
            <a:gdLst/>
            <a:ahLst/>
            <a:cxnLst/>
            <a:rect r="r" b="b" t="t" l="l"/>
            <a:pathLst>
              <a:path h="840931" w="2335920">
                <a:moveTo>
                  <a:pt x="0" y="0"/>
                </a:moveTo>
                <a:lnTo>
                  <a:pt x="2335920" y="0"/>
                </a:lnTo>
                <a:lnTo>
                  <a:pt x="2335920" y="840931"/>
                </a:lnTo>
                <a:lnTo>
                  <a:pt x="0" y="8409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15266" y="3808209"/>
            <a:ext cx="1454438" cy="1393230"/>
          </a:xfrm>
          <a:custGeom>
            <a:avLst/>
            <a:gdLst/>
            <a:ahLst/>
            <a:cxnLst/>
            <a:rect r="r" b="b" t="t" l="l"/>
            <a:pathLst>
              <a:path h="1393230" w="1454438">
                <a:moveTo>
                  <a:pt x="0" y="0"/>
                </a:moveTo>
                <a:lnTo>
                  <a:pt x="1454438" y="0"/>
                </a:lnTo>
                <a:lnTo>
                  <a:pt x="1454438" y="1393231"/>
                </a:lnTo>
                <a:lnTo>
                  <a:pt x="0" y="13932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DAG-aK8OmDk</dc:identifier>
  <dcterms:modified xsi:type="dcterms:W3CDTF">2011-08-01T06:04:30Z</dcterms:modified>
  <cp:revision>1</cp:revision>
  <dc:title>Intelligent Industrial Operations Platform</dc:title>
</cp:coreProperties>
</file>